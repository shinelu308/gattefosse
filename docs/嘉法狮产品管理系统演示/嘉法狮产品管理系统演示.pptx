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9" Type="http://schemas.openxmlformats.org/officeDocument/2006/relationships/slide" Target="slides/slide9.xml" 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: '#FFFFFF' }}&gt;&#10;    &lt;Box style={{ flexDirection: 'row', width: '100%', height: '100%' }}&gt;&#10;        &lt;Box style={{ width: 560, height: '100%', background: 'linear-gradient(160deg, #A5CE55 0%, #6F9A24 100%)', padding: 64, justifyContent: 'center' }}&gt;&#10;            &lt;Text style={{ fontSize: 18, color: '#FFFFFF', opacity: 0.85, letterSpacing: 4, marginBottom: 28 }}&gt;GATTEFOSSE · CHINA&lt;/Text&gt;&#10;            &lt;Text style={{ fontSize: 64, fontWeight: 'bold', color: '#FFFFFF', lineHeight: 1.2 }}&gt;嘉法狮&lt;br /&gt;产品管理系统&lt;/Text&gt;&#10;            &lt;Text style={{ fontSize: 26, color: '#FFFFFF', opacity: 0.92, marginTop: 28 }}&gt;功能演示 · v2.0&lt;/Text&gt;&#10;            &lt;Box style={{ height: 4, width: 72, background: 'rgba(255,255,255,0.5)', borderRadius: 2, marginTop: 36 }} /&gt;&#10;            &lt;Text style={{ fontSize: 16, color: '#FFFFFF', opacity: 0.8, marginTop: 36 }}&gt;上海唯风信息技术有限公司 · 2026 年 9 月&lt;/Text&gt;&#10;        &lt;/Box&gt;&#10;        &lt;Box style={{ flex: 1, height: '100%', background: '#F4F9EA', justifyContent: 'center', alignItems: 'center', padding: 48 }}&gt;&#10;            &lt;Image src=&quot;assets/cover.png&quot; style={{ width: 620, height: 380, borderRadius: 16, boxShadow: '0 8px 32px rgba(63,125,20,0.18)' }} /&gt;&#10;            &lt;Text style={{ fontSize: 16, color: '#5B6B4F', marginTop: 24 }}&gt;产品 · 内容 · 运营 一站式管理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5334000" cy="6858000"/>
          </a:xfrm>
          <a:prstGeom prst="rect">
            <a:avLst/>
          </a:prstGeom>
          <a:gradFill>
            <a:gsLst>
              <a:gs pos="0">
                <a:srgbClr val="A5CE55"/>
              </a:gs>
              <a:gs pos="100000">
                <a:srgbClr val="6F9A24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41148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嘉法狮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产品管理系统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47244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5334000" y="0"/>
            <a:ext cx="6858000" cy="6858000"/>
          </a:xfrm>
          <a:prstGeom prst="rect">
            <a:avLst/>
          </a:prstGeom>
          <a:solidFill>
            <a:srgbClr val="F4F9EA"/>
          </a:solidFill>
          <a:ln/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1"/>
          <a:srcRect l="0" t="30" r="0" b="30"/>
          <a:stretch>
            <a:fillRect/>
          </a:stretch>
        </p:blipFill>
        <p:spPr>
          <a:xfrm rot="0" flipH="0" flipV="0">
            <a:off x="5810250" y="1409700"/>
            <a:ext cx="5905500" cy="3619500"/>
          </a:xfrm>
          <a:prstGeom prst="roundRect">
            <a:avLst>
              <a:gd name="adj" fmla="val 4211"/>
            </a:avLst>
          </a:prstGeom>
          <a:ln/>
          <a:effectLst>
            <a:outerShdw blurRad="304800" dist="76200" dir="5400000">
              <a:srgbClr val="3F7D14">
                <a:alpha val="18000"/>
              </a:srgbClr>
            </a:outerShdw>
          </a:effectLst>
        </p:spPr>
      </p:pic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772400" y="5257800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产品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内容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运营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一站式管理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1571625"/>
            <a:ext cx="4114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GATTEFOSSE · CHINA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4076700"/>
            <a:ext cx="4114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功能演示</a:t>
            </a:r>
            <a:r>
              <a:rPr lang="en-US" sz="19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· v2.0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上海唯风信息技术有限公司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· 2026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9" name="" descr="&lt;Slide style={{ width: 1280, height: 720, background: '#FFFFFF', padding: '20px 64px' }}&gt;&#10;    &lt;Box style={{ height: 100, justifyContent: 'flex-end', paddingBottom: 16 }}&gt;&#10;        &lt;Text style={{ fontSize: 34, fontWeight: 'bold', color: '#1F3D0F' }}&gt;目录&lt;/Text&gt;&#10;    &lt;/Box&gt;&#10;    &lt;Box style={{ flexDirection: 'row', flex: 1, gap: 40, paddingTop: 8 }}&gt;&#10;        &lt;Box style={{ width: 340, justifyContent: 'center' }}&gt;&#10;            &lt;Box style={{ background: '#F4F9EA', borderRadius: 16, padding: 32 }}&gt;&#10;                &lt;Text style={{ fontSize: 20, color: '#3F7D14', lineHeight: 1.7 }}&gt;&#10;                    五个章节，&lt;span style={{ fontWeight: 'bold' }}&gt;从认识系统到上手操作&lt;/span&gt;&#10;                    ，完整走一遍嘉法狮产品管理系统的核心能力&#10;                &lt;/Text&gt;&#10;            &lt;/Box&gt;&#10;        &lt;/Box&gt;&#10;        &lt;Box style={{ flex: 1, justifyContent: 'center', gap: 18 }}&gt;&#10;            {[&#10;                { n: '01', t: '系统定位', d: '一句话看懂系统价值，数据规模一览' },&#10;                { n: '02', t: '功能架构', d: '六大功能域全景图，一张图看懂全貌' },&#10;                { n: '03', t: '角色与上手', d: '三类角色各司其职，三步开始使用' },&#10;                { n: '04', t: '核心功能演示', d: '产品管理、内容运营、数据看板逐一过' },&#10;                { n: '05', t: '安全与部署', d: '数据如何保护，版本如何上线' },&#10;            ].map((item, idx) =&gt; (&#10;                &lt;Box key={idx} style={{ flexDirection: 'row', alignItems: 'center', gap: 20, background: idx === 1 ? '#F4F9EA' : '#FFFFFF', borderRadius: 12, padding: '14px 24px' }}&gt;&#10;                    &lt;Text style={{ fontSize: 30, fontWeight: 'bold', color: '#8EB73C', width: 56 }}&gt;{item.n}&lt;/Text&gt;&#10;                    &lt;Box style={{ flexDirection: 'column' }}&gt;&#10;                        &lt;Text style={{ fontSize: 22, fontWeight: 'bold', color: '#1F3D0F' }}&gt;{item.t}&lt;/Text&gt;&#10;                        &lt;Text style={{ fontSize: 16, color: '#5B6B4F', marginTop: 2 }}&gt;{item.d}&lt;/Text&gt;&#10;                    &lt;/Box&gt;&#10;                &lt;/Box&gt;&#10;            ))}&#10;        &lt;/Box&gt;&#10;    &lt;/Box&gt;&#10;    &lt;Box style={{ height: 40, flexDirection: 'row', justifyContent: 'space-between', alignItems: 'center' }}&gt;&#10;        &lt;Text style={{ fontSize: 14, color: '#8A9B7A' }}&gt;嘉法狮产品管理系统&lt;/Text&gt;&#10;        &lt;Text style={{ fontSize: 14, color: '#8A9B7A' }}&gt;02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09600" y="2867025"/>
            <a:ext cx="3238500" cy="1781175"/>
          </a:xfrm>
          <a:prstGeom prst="roundRect">
            <a:avLst>
              <a:gd name="adj" fmla="val 8556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14400" y="3171825"/>
            <a:ext cx="26289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3F7D14"/>
                </a:solidFill>
                <a:latin typeface="Microsoft YaHei"/>
                <a:ea typeface="Microsoft YaHei"/>
              </a:rPr>
              <a:t>五个章节，</a:t>
            </a:r>
            <a:r>
              <a:rPr lang="zh-CN" sz="1500" b="1">
                <a:solidFill>
                  <a:srgbClr val="3F7D14"/>
                </a:solidFill>
                <a:latin typeface="Microsoft YaHei"/>
                <a:ea typeface="Microsoft YaHei"/>
              </a:rPr>
              <a:t>从认识系统到上手操作</a:t>
            </a:r>
            <a:r>
              <a:rPr lang="zh-CN" sz="1500">
                <a:solidFill>
                  <a:srgbClr val="3F7D14"/>
                </a:solidFill>
                <a:latin typeface="Microsoft YaHei"/>
                <a:ea typeface="Microsoft YaHei"/>
              </a:rPr>
              <a:t>，完整走一遍嘉法狮产品管理系统的核心能力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229100" y="1581150"/>
            <a:ext cx="735330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457700" y="17811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EB73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181600" y="1714500"/>
            <a:ext cx="2438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系统定位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181600" y="1990725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一句话看懂系统价值，数据规模一览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229100" y="2486025"/>
            <a:ext cx="7353300" cy="733425"/>
          </a:xfrm>
          <a:prstGeom prst="roundRect">
            <a:avLst>
              <a:gd name="adj" fmla="val 15584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457700" y="2686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EB73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181600" y="2619375"/>
            <a:ext cx="2438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功能架构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181600" y="28956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六大功能域全景图，一张图看懂全貌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229100" y="3390900"/>
            <a:ext cx="735330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457700" y="359092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EB73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181600" y="352425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角色与上手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181600" y="3800475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三类角色各司其职，三步开始使用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229100" y="4295775"/>
            <a:ext cx="735330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457700" y="44958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EB73C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181600" y="442912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核心功能演示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181600" y="470535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产品管理、内容运营、数据看板逐一过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229100" y="5200650"/>
            <a:ext cx="735330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457700" y="54006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8EB73C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181600" y="5334000"/>
            <a:ext cx="1981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安全与部署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181600" y="561022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数据如何保护，版本如何上线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B7A"/>
                </a:solidFill>
                <a:latin typeface="Microsoft YaHei"/>
                <a:ea typeface="Microsoft YaHei"/>
              </a:rPr>
              <a:t>嘉法狮产品管理系统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B7A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style={{ width: 1280, height: 720, background: '#FFFFFF', padding: '20px 64px' }}&gt;&#10;    &lt;Box style={{ height: 100, justifyContent: 'flex-end', paddingBottom: 16 }}&gt;&#10;        &lt;Text style={{ fontSize: 34, fontWeight: 'bold', color: '#1F3D0F' }}&gt;系统定位：一句话看懂&lt;/Text&gt;&#10;    &lt;/Box&gt;&#10;    &lt;Box style={{ flexDirection: 'row', flex: 1, alignItems: 'center', gap: 48 }}&gt;&#10;        &lt;Box style={{ flex: 1, justifyContent: 'center' }}&gt;&#10;            &lt;Text style={{ fontSize: 24, color: '#5B6B4F', lineHeight: 1.7 }}&gt;&#10;                前台 &lt;span style={{ fontWeight: 'bold', color: '#3F7D14' }}&gt;1:1 复刻嘉法狮官网&lt;/span&gt;&#10;                ，后台把产品、配方、内容、订单、会员&#10;                &lt;span style={{ fontWeight: 'bold', color: '#3F7D14' }}&gt;集中在一个系统管理&lt;/span&gt;&#10;                ，不懂代码也能日常维护。&#10;            &lt;/Text&gt;&#10;            &lt;Box style={{ flexDirection: 'row', gap: 12, marginTop: 32 }}&gt;&#10;                &lt;Box style={{ background: '#F4F9EA', borderRadius: 8, padding: '8px 18px' }}&gt;&#10;                    &lt;Text style={{ fontSize: 16, color: '#3F7D14' }}&gt;网站前台 + 管理后台 一体化&lt;/Text&gt;&#10;                &lt;/Box&gt;&#10;                &lt;Box style={{ background: '#F4F9EA', borderRadius: 8, padding: '8px 18px' }}&gt;&#10;                    &lt;Text style={{ fontSize: 16, color: '#3F7D14' }}&gt;浏览器打开即用&lt;/Text&gt;&#10;                &lt;/Box&gt;&#10;            &lt;/Box&gt;&#10;        &lt;/Box&gt;&#10;        &lt;Box style={{ width: 560, flexDirection: 'row', gap: 20 }}&gt;&#10;            {[&#10;                { n: '57', t: '个护理产品', d: 'PC 产品中文站' },&#10;                { n: '54', t: '条药用辅料', d: 'Pharma 产品线' },&#10;                { n: '99', t: '个配方方案', d: 'Formulation 库' },&#10;            ].map((item, idx) =&gt; (&#10;                &lt;Box key={idx} style={{ flex: 1, background: idx === 0 ? '#F4F9EA' : '#FFFFFF', border: '2px solid #E3EED0', borderRadius: 16, padding: '28px 20px', alignItems: 'center', boxShadow: idx === 0 ? '0 6px 24px rgba(142,183,60,0.15)' : 'none' }}&gt;&#10;                    &lt;Text style={{ fontSize: 88, fontWeight: 'bold', color: '#3F7D14', lineHeight: 1.0, textAlign: 'center' }}&gt;{item.n}&lt;/Text&gt;&#10;                    &lt;Text style={{ fontSize: 20, fontWeight: 'bold', color: '#1F3D0F', marginTop: 12, textAlign: 'center' }}&gt;{item.t}&lt;/Text&gt;&#10;                    &lt;Text style={{ fontSize: 15, color: '#8A9B7A', marginTop: 6, textAlign: 'center' }}&gt;{item.d}&lt;/Text&gt;&#10;                &lt;/Box&gt;&#10;            ))}&#10;        &lt;/Box&gt;&#10;    &lt;/Box&gt;&#10;    &lt;Box style={{ height: 40, flexDirection: 'row', justifyContent: 'space-between', alignItems: 'center' }}&gt;&#10;        &lt;Text style={{ fontSize: 14, color: '#8A9B7A' }}&gt;嘉法狮产品管理系统&lt;/Text&gt;&#10;        &lt;Text style={{ fontSize: 14, color: '#8A9B7A' }}&gt;03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系统定位：一句话看懂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2695575"/>
            <a:ext cx="5181600" cy="1400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800">
                <a:solidFill>
                  <a:srgbClr val="5B6B4F"/>
                </a:solidFill>
                <a:latin typeface="Microsoft YaHei"/>
                <a:ea typeface="Microsoft YaHei"/>
              </a:rPr>
              <a:t>前台</a:t>
            </a:r>
            <a:r>
              <a:rPr lang="en-US" sz="1800">
                <a:solidFill>
                  <a:srgbClr val="5B6B4F"/>
                </a:solidFill>
                <a:latin typeface="Microsoft YaHei"/>
                <a:ea typeface="Microsoft YaHei"/>
              </a:rPr>
              <a:t> </a:t>
            </a:r>
            <a:r>
              <a:rPr lang="en-US" sz="1800" b="1">
                <a:solidFill>
                  <a:srgbClr val="3F7D14"/>
                </a:solidFill>
                <a:latin typeface="Microsoft YaHei"/>
                <a:ea typeface="Microsoft YaHei"/>
              </a:rPr>
              <a:t>1:1 </a:t>
            </a:r>
            <a:r>
              <a:rPr lang="zh-CN" sz="1800" b="1">
                <a:solidFill>
                  <a:srgbClr val="3F7D14"/>
                </a:solidFill>
                <a:latin typeface="Microsoft YaHei"/>
                <a:ea typeface="Microsoft YaHei"/>
              </a:rPr>
              <a:t>复刻嘉法狮官网</a:t>
            </a:r>
            <a:r>
              <a:rPr lang="zh-CN" sz="1800">
                <a:solidFill>
                  <a:srgbClr val="5B6B4F"/>
                </a:solidFill>
                <a:latin typeface="Microsoft YaHei"/>
                <a:ea typeface="Microsoft YaHei"/>
              </a:rPr>
              <a:t>，后台把产品、配方、内容、订单、会员</a:t>
            </a:r>
            <a:r>
              <a:rPr lang="zh-CN" sz="1800" b="1">
                <a:solidFill>
                  <a:srgbClr val="3F7D14"/>
                </a:solidFill>
                <a:latin typeface="Microsoft YaHei"/>
                <a:ea typeface="Microsoft YaHei"/>
              </a:rPr>
              <a:t>集中在一个系统管理</a:t>
            </a:r>
            <a:r>
              <a:rPr lang="zh-CN" sz="1800">
                <a:solidFill>
                  <a:srgbClr val="5B6B4F"/>
                </a:solidFill>
                <a:latin typeface="Microsoft YaHei"/>
                <a:ea typeface="Microsoft YaHei"/>
              </a:rPr>
              <a:t>，不懂代码也能日常维护。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4400550"/>
            <a:ext cx="2276475" cy="342900"/>
          </a:xfrm>
          <a:prstGeom prst="roundRect">
            <a:avLst>
              <a:gd name="adj" fmla="val 22222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81050" y="4476750"/>
            <a:ext cx="1933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7D14"/>
                </a:solidFill>
                <a:latin typeface="Microsoft YaHei"/>
                <a:ea typeface="Microsoft YaHei"/>
              </a:rPr>
              <a:t>网站前台</a:t>
            </a:r>
            <a:r>
              <a:rPr lang="en-US" sz="1200">
                <a:solidFill>
                  <a:srgbClr val="3F7D14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3F7D14"/>
                </a:solidFill>
                <a:latin typeface="Microsoft YaHei"/>
                <a:ea typeface="Microsoft YaHei"/>
              </a:rPr>
              <a:t>管理后台</a:t>
            </a:r>
            <a:r>
              <a:rPr lang="en-US" sz="1200">
                <a:solidFill>
                  <a:srgbClr val="3F7D14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3F7D14"/>
                </a:solidFill>
                <a:latin typeface="Microsoft YaHei"/>
                <a:ea typeface="Microsoft YaHei"/>
              </a:rPr>
              <a:t>一体化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3000375" y="4400550"/>
            <a:ext cx="1409700" cy="342900"/>
          </a:xfrm>
          <a:prstGeom prst="roundRect">
            <a:avLst>
              <a:gd name="adj" fmla="val 22222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171825" y="447675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F7D14"/>
                </a:solidFill>
                <a:latin typeface="Microsoft YaHei"/>
                <a:ea typeface="Microsoft YaHei"/>
              </a:rPr>
              <a:t>浏览器打开即用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248400" y="2657475"/>
            <a:ext cx="1647825" cy="2114550"/>
          </a:xfrm>
          <a:prstGeom prst="roundRect">
            <a:avLst>
              <a:gd name="adj" fmla="val 9249"/>
            </a:avLst>
          </a:prstGeom>
          <a:solidFill>
            <a:srgbClr val="F4F9EA"/>
          </a:solidFill>
          <a:ln w="25400">
            <a:solidFill>
              <a:srgbClr val="E3EED0"/>
            </a:solidFill>
            <a:prstDash val="solid"/>
          </a:ln>
          <a:effectLst>
            <a:outerShdw blurRad="228600" dist="57150" dir="5400000">
              <a:srgbClr val="8EB73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553200" y="2924175"/>
            <a:ext cx="1038225" cy="10096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6600" b="1">
                <a:solidFill>
                  <a:srgbClr val="3F7D14"/>
                </a:solidFill>
                <a:latin typeface="Microsoft YaHei"/>
                <a:ea typeface="Microsoft YaHei"/>
              </a:rPr>
              <a:t>57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600825" y="4048125"/>
            <a:ext cx="952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个护理产品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600825" y="4333875"/>
            <a:ext cx="9429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A9B7A"/>
                </a:solidFill>
                <a:latin typeface="Microsoft YaHei"/>
                <a:ea typeface="Microsoft YaHei"/>
              </a:rPr>
              <a:t>PC </a:t>
            </a:r>
            <a:r>
              <a:rPr lang="zh-CN" sz="1125">
                <a:solidFill>
                  <a:srgbClr val="8A9B7A"/>
                </a:solidFill>
                <a:latin typeface="Microsoft YaHei"/>
                <a:ea typeface="Microsoft YaHei"/>
              </a:rPr>
              <a:t>产品中文站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8086725" y="2657475"/>
            <a:ext cx="1657350" cy="2114550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401050" y="2924175"/>
            <a:ext cx="1038225" cy="10096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6600" b="1">
                <a:solidFill>
                  <a:srgbClr val="3F7D14"/>
                </a:solidFill>
                <a:latin typeface="Microsoft YaHei"/>
                <a:ea typeface="Microsoft YaHei"/>
              </a:rPr>
              <a:t>54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439150" y="4048125"/>
            <a:ext cx="952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条药用辅料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420100" y="4333875"/>
            <a:ext cx="10001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A9B7A"/>
                </a:solidFill>
                <a:latin typeface="Microsoft YaHei"/>
                <a:ea typeface="Microsoft YaHei"/>
              </a:rPr>
              <a:t>Pharma </a:t>
            </a:r>
            <a:r>
              <a:rPr lang="zh-CN" sz="1125">
                <a:solidFill>
                  <a:srgbClr val="8A9B7A"/>
                </a:solidFill>
                <a:latin typeface="Microsoft YaHei"/>
                <a:ea typeface="Microsoft YaHei"/>
              </a:rPr>
              <a:t>产品线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9934575" y="2657475"/>
            <a:ext cx="1647825" cy="2114550"/>
          </a:xfrm>
          <a:prstGeom prst="roundRect">
            <a:avLst>
              <a:gd name="adj" fmla="val 9249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239375" y="2924175"/>
            <a:ext cx="1038225" cy="10096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6600" b="1">
                <a:solidFill>
                  <a:srgbClr val="3F7D14"/>
                </a:solidFill>
                <a:latin typeface="Microsoft YaHei"/>
                <a:ea typeface="Microsoft YaHei"/>
              </a:rPr>
              <a:t>99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287000" y="4048125"/>
            <a:ext cx="952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个配方方案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248900" y="4333875"/>
            <a:ext cx="10191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A9B7A"/>
                </a:solidFill>
                <a:latin typeface="Microsoft YaHei"/>
                <a:ea typeface="Microsoft YaHei"/>
              </a:rPr>
              <a:t>Formulation </a:t>
            </a:r>
            <a:r>
              <a:rPr lang="zh-CN" sz="1125">
                <a:solidFill>
                  <a:srgbClr val="8A9B7A"/>
                </a:solidFill>
                <a:latin typeface="Microsoft YaHei"/>
                <a:ea typeface="Microsoft YaHei"/>
              </a:rPr>
              <a:t>库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B7A"/>
                </a:solidFill>
                <a:latin typeface="Microsoft YaHei"/>
                <a:ea typeface="Microsoft YaHei"/>
              </a:rPr>
              <a:t>嘉法狮产品管理系统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B7A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8" name="" descr="&lt;Slide style={{ width: 1280, height: 720, background: '#FFFFFF', padding: '20px 64px' }}&gt;&#10;    &lt;Box style={{ height: 100, justifyContent: 'flex-end', paddingBottom: 16 }}&gt;&#10;        &lt;Text style={{ fontSize: 34, fontWeight: 'bold', color: '#1F3D0F' }}&gt;功能架构：一张图看懂全貌&lt;/Text&gt;&#10;    &lt;/Box&gt;&#10;    &lt;Box style={{ flexDirection: 'row', flex: 1, gap: 36, paddingTop: 8, alignItems: 'center' }}&gt;&#10;        &lt;Box style={{ width: 600, height: 500, background: '#F4F9EA', borderRadius: 16, padding: 16, justifyContent: 'center', alignItems: 'center' }}&gt;&#10;            &lt;Image src=&quot;assets/architecture.png&quot; style={{ width: 568, height: 468, borderRadius: 8, objectFit: 'contain' }} /&gt;&#10;        &lt;/Box&gt;&#10;        &lt;Box style={{ flex: 1, gap: 20, justifyContent: 'center' }}&gt;&#10;            {[&#10;                { n: '1', t: '数据总览', d: '访问统计、地区排行、下载排行一屏掌握' },&#10;                { n: '2', t: '产品管理', d: 'PC / 药用辅料 / 配方三大产品线集中维护' },&#10;                { n: '3', t: '内容管理', d: '新闻活动、页面内容、人才招聘随时发布' },&#10;                { n: '4', t: '运营与交易', d: '会员、收藏、购物车、样品申请全流程' },&#10;                { n: '5', t: '基础配置', d: '员工账号、标签体系、系统设置灵活配置' },&#10;            ].map((item, idx) =&gt; (&#10;                &lt;Box key={idx} style={{ flexDirection: 'row', alignItems: 'center', gap: 16 }}&gt;&#10;                    &lt;Box style={{ width: 44, height: 44, borderRadius: 22, background: '#8EB73C', justifyContent: 'center', alignItems: 'center' }}&gt;&#10;                        &lt;Text style={{ fontSize: 20, fontWeight: 'bold', color: '#FFFFFF' }}&gt;{item.n}&lt;/Text&gt;&#10;                    &lt;/Box&gt;&#10;                    &lt;Box style={{ flexDirection: 'column' }}&gt;&#10;                        &lt;Text style={{ fontSize: 20, fontWeight: 'bold', color: '#1F3D0F' }}&gt;{item.t}&lt;/Text&gt;&#10;                        &lt;Text style={{ fontSize: 15, color: '#5B6B4F', marginTop: 2, lineHeight: 1.4 }}&gt;{item.d}&lt;/Text&gt;&#10;                    &lt;/Box&gt;&#10;                &lt;/Box&gt;&#10;            ))}&#10;        &lt;/Box&gt;&#10;    &lt;/Box&gt;&#10;    &lt;Box style={{ height: 40, flexDirection: 'row', justifyContent: 'space-between', alignItems: 'center' }}&gt;&#10;        &lt;Text style={{ fontSize: 14, color: '#8A9B7A' }}&gt;嘉法狮产品管理系统&lt;/Text&gt;&#10;        &lt;Text style={{ fontSize: 14, color: '#8A9B7A' }}&gt;04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功能架构：一张图看懂全貌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1371600"/>
            <a:ext cx="5715000" cy="4762500"/>
          </a:xfrm>
          <a:prstGeom prst="roundRect">
            <a:avLst>
              <a:gd name="adj" fmla="val 3200"/>
            </a:avLst>
          </a:prstGeom>
          <a:solidFill>
            <a:srgbClr val="F4F9EA"/>
          </a:solidFill>
          <a:ln/>
        </p:spPr>
        <p:txBody>
          <a:bodyPr/>
          <a:p/>
        </p:txBody>
      </p:sp>
      <p:pic>
        <p:nvPicPr>
          <p:cNvPr id="72" name=""/>
          <p:cNvPicPr>
            <a:picLocks noChangeAspect="1"/>
          </p:cNvPicPr>
          <p:nvPr/>
        </p:nvPicPr>
        <p:blipFill>
          <a:blip r:embed="rId1"/>
          <a:srcRect l="0" t="563" r="0" b="563"/>
          <a:stretch>
            <a:fillRect/>
          </a:stretch>
        </p:blipFill>
        <p:spPr>
          <a:xfrm rot="0" flipH="0" flipV="0">
            <a:off x="762000" y="1524000"/>
            <a:ext cx="5410200" cy="4457700"/>
          </a:xfrm>
          <a:prstGeom prst="roundRect">
            <a:avLst>
              <a:gd name="adj" fmla="val 1709"/>
            </a:avLst>
          </a:prstGeom>
          <a:ln/>
        </p:spPr>
      </p:pic>
      <p:sp>
        <p:nvSpPr>
          <p:cNvPr id="73" name=""/>
          <p:cNvSpPr/>
          <p:nvPr/>
        </p:nvSpPr>
        <p:spPr>
          <a:xfrm rot="0" flipH="0" flipV="0">
            <a:off x="6667500" y="2171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819900" y="22669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239000" y="2133600"/>
            <a:ext cx="2571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数据总览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39000" y="2381250"/>
            <a:ext cx="2571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访问统计、地区排行、下载排行一屏掌握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667500" y="28575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819900" y="29527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239000" y="2819400"/>
            <a:ext cx="2619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产品管理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239000" y="3067050"/>
            <a:ext cx="26193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>
                <a:solidFill>
                  <a:srgbClr val="5B6B4F"/>
                </a:solidFill>
                <a:latin typeface="Microsoft YaHei"/>
                <a:ea typeface="Microsoft YaHei"/>
              </a:rPr>
              <a:t>PC / </a:t>
            </a: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药用辅料</a:t>
            </a:r>
            <a:r>
              <a:rPr lang="en-US" sz="1125">
                <a:solidFill>
                  <a:srgbClr val="5B6B4F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配方三大产品线集中维护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667500" y="35433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19900" y="36385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239000" y="3505200"/>
            <a:ext cx="2571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内容管理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239000" y="3752850"/>
            <a:ext cx="2571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新闻活动、页面内容、人才招聘随时发布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667500" y="4229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819900" y="43243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239000" y="4191000"/>
            <a:ext cx="2428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运营与交易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239000" y="4438650"/>
            <a:ext cx="24288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会员、收藏、购物车、样品申请全流程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667500" y="49149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819900" y="50101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239000" y="4876800"/>
            <a:ext cx="2571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基础配置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239000" y="5124450"/>
            <a:ext cx="25717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员工账号、标签体系、系统设置灵活配置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B7A"/>
                </a:solidFill>
                <a:latin typeface="Microsoft YaHei"/>
                <a:ea typeface="Microsoft YaHei"/>
              </a:rPr>
              <a:t>嘉法狮产品管理系统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B7A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width: 1280, height: 720, background: '#FFFFFF', padding: '20px 64px' }}&gt;&#10;    &lt;Box style={{ height: 100, justifyContent: 'flex-end', paddingBottom: 16 }}&gt;&#10;        &lt;Text style={{ fontSize: 34, fontWeight: 'bold', color: '#1F3D0F' }}&gt;谁在使用：三类角色各司其职&lt;/Text&gt;&#10;    &lt;/Box&gt;&#10;    &lt;Box style={{ flexDirection: 'row', gap: 24, flex: 1, paddingTop: 20, paddingBottom: 16 }}&gt;&#10;        {[&#10;            { tag: '后台 · 最高权限', t: '超级管理员', d: '系统的所有者与总管家，拥有全部功能权限。负责员工账号的创建与停用、各模块授权分配、系统设置与数据安全策略。公司内部通常只设一名，避免权限分散带来的管理风险。', foot: '全模块权限 · 账号管理 · 系统设置' },&#10;            { tag: '后台 · 按模块授权', t: '编辑员', d: '日常内容维护的主力。由超管按需授权具体模块，例如只负责产品资料更新，或只负责新闻活动发布。界面上只显示被授权的功能，看不到的模块自动隐藏，职责清晰、操作简单。', foot: '授权范围内维护内容 · 界面按需呈现' },&#10;            { tag: '前台 · 仅使用网站', t: '网站会员', d: '嘉法狮官网的注册用户，只在网站前台活动：浏览产品与配方、收藏感兴趣的内容、加入购物车申请样品、下载技术文档。会员不进入管理后台，后台登录口也会自动拦截会员账号。', foot: '浏览 · 收藏 · 样品申请 · 文档下载' },&#10;        ].map((card, idx) =&gt; (&#10;            &lt;Box key={idx} style={{ flex: 1, background: '#FFFFFF', border: '2px solid #E3EED0', borderRadius: 16, overflow: 'hidden' }}&gt;&#10;                &lt;Box style={{ height: 76, background: idx === 0 ? 'linear-gradient(135deg, #A5CE55 0%, #6F9A24 100%)' : '#F4F9EA', justifyContent: 'center', paddingHorizontal: 24 }}&gt;&#10;                    &lt;Text style={{ fontSize: 15, color: idx === 0 ? '#FFFFFF' : '#6F9A24', opacity: idx === 0 ? 0.9 : 1 }}&gt;{card.tag}&lt;/Text&gt;&#10;                    &lt;Text style={{ fontSize: 24, fontWeight: 'bold', color: idx === 0 ? '#FFFFFF' : '#1F3D0F', marginTop: 2 }}&gt;{card.t}&lt;/Text&gt;&#10;                &lt;/Box&gt;&#10;                &lt;Box style={{ flex: 1, padding: 24, justifyContent: 'space-between' }}&gt;&#10;                    &lt;Text style={{ fontSize: 16, color: '#5B6B4F', lineHeight: 1.7 }}&gt;{card.d}&lt;/Text&gt;&#10;                    &lt;Box style={{ background: '#F4F9EA', borderRadius: 8, padding: '10px 14px', marginTop: 16 }}&gt;&#10;                        &lt;Text style={{ fontSize: 14, color: '#3F7D14', textAlign: 'center' }}&gt;{card.foot}&lt;/Text&gt;&#10;                    &lt;/Box&gt;&#10;                &lt;/Box&gt;&#10;            &lt;/Box&gt;&#10;        ))}&#10;    &lt;/Box&gt;&#10;    &lt;Box style={{ height: 40, flexDirection: 'row', justifyContent: 'space-between', alignItems: 'center' }}&gt;&#10;        &lt;Text style={{ fontSize: 14, color: '#8A9B7A' }}&gt;嘉法狮产品管理系统&lt;/Text&gt;&#10;        &lt;Text style={{ fontSize: 14, color: '#8A9B7A' }}&gt;05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谁在使用：三类角色各司其职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1333500"/>
            <a:ext cx="3505200" cy="4800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1333500"/>
            <a:ext cx="3505200" cy="723900"/>
          </a:xfrm>
          <a:custGeom>
            <a:pathLst>
              <a:path w="368" h="76">
                <a:moveTo>
                  <a:pt x="352" y="0"/>
                </a:moveTo>
                <a:cubicBezTo>
                  <a:pt x="361" y="0"/>
                  <a:pt x="368" y="7"/>
                  <a:pt x="368" y="16"/>
                </a:cubicBezTo>
                <a:lnTo>
                  <a:pt x="368" y="76"/>
                </a:lnTo>
                <a:lnTo>
                  <a:pt x="0" y="7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52" y="0"/>
                </a:lnTo>
                <a:close/>
              </a:path>
            </a:pathLst>
          </a:custGeom>
          <a:gradFill>
            <a:gsLst>
              <a:gs pos="0">
                <a:srgbClr val="A5CE55"/>
              </a:gs>
              <a:gs pos="100000">
                <a:srgbClr val="6F9A2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3505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超级管理员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30480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系统的所有者与总管家，拥有全部功能权限。负责员工账号的创建与停用、各模块授权分配、系统设置与数据安全策略。公司内部通常只设一名，避免权限分散带来的管理风险。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38200" y="5553075"/>
            <a:ext cx="3048000" cy="352425"/>
          </a:xfrm>
          <a:prstGeom prst="roundRect">
            <a:avLst>
              <a:gd name="adj" fmla="val 21622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71550" y="5648325"/>
            <a:ext cx="27813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全模块权限</a:t>
            </a:r>
            <a:r>
              <a:rPr lang="en-US" sz="1050">
                <a:solidFill>
                  <a:srgbClr val="3F7D14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账号管理</a:t>
            </a:r>
            <a:r>
              <a:rPr lang="en-US" sz="1050">
                <a:solidFill>
                  <a:srgbClr val="3F7D14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系统设置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4343400" y="1333500"/>
            <a:ext cx="3505200" cy="4800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4343400" y="1333500"/>
            <a:ext cx="3505200" cy="723900"/>
          </a:xfrm>
          <a:custGeom>
            <a:pathLst>
              <a:path w="368" h="76">
                <a:moveTo>
                  <a:pt x="352" y="0"/>
                </a:moveTo>
                <a:cubicBezTo>
                  <a:pt x="361" y="0"/>
                  <a:pt x="368" y="7"/>
                  <a:pt x="368" y="16"/>
                </a:cubicBezTo>
                <a:lnTo>
                  <a:pt x="368" y="76"/>
                </a:lnTo>
                <a:lnTo>
                  <a:pt x="0" y="7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52" y="0"/>
                </a:lnTo>
                <a:close/>
              </a:path>
            </a:pathLst>
          </a:custGeom>
          <a:solidFill>
            <a:srgbClr val="F4F9EA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343400" y="1466850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F9A24"/>
                </a:solidFill>
                <a:latin typeface="Microsoft YaHei"/>
                <a:ea typeface="Microsoft YaHei"/>
              </a:rPr>
              <a:t>后台</a:t>
            </a:r>
            <a:r>
              <a:rPr lang="en-US" sz="1125">
                <a:solidFill>
                  <a:srgbClr val="6F9A2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6F9A24"/>
                </a:solidFill>
                <a:latin typeface="Microsoft YaHei"/>
                <a:ea typeface="Microsoft YaHei"/>
              </a:rPr>
              <a:t>按模块授权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343400" y="1657350"/>
            <a:ext cx="3505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D0F"/>
                </a:solidFill>
                <a:latin typeface="Microsoft YaHei"/>
                <a:ea typeface="Microsoft YaHei"/>
              </a:rPr>
              <a:t>编辑员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572000" y="2286000"/>
            <a:ext cx="30480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日常内容维护的主力。由超管按需授权具体模块，例如只负责产品资料更新，或只负责新闻活动发布。界面上只显示被授权的功能，看不到的模块自动隐藏，职责清晰、操作简单。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4572000" y="5553075"/>
            <a:ext cx="3048000" cy="352425"/>
          </a:xfrm>
          <a:prstGeom prst="roundRect">
            <a:avLst>
              <a:gd name="adj" fmla="val 21622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705350" y="5648325"/>
            <a:ext cx="27813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授权范围内维护内容</a:t>
            </a:r>
            <a:r>
              <a:rPr lang="en-US" sz="1050">
                <a:solidFill>
                  <a:srgbClr val="3F7D14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界面按需呈现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077200" y="1333500"/>
            <a:ext cx="3505200" cy="4800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8077200" y="1333500"/>
            <a:ext cx="3505200" cy="723900"/>
          </a:xfrm>
          <a:custGeom>
            <a:pathLst>
              <a:path w="368" h="76">
                <a:moveTo>
                  <a:pt x="352" y="0"/>
                </a:moveTo>
                <a:cubicBezTo>
                  <a:pt x="361" y="0"/>
                  <a:pt x="368" y="7"/>
                  <a:pt x="368" y="16"/>
                </a:cubicBezTo>
                <a:lnTo>
                  <a:pt x="368" y="76"/>
                </a:lnTo>
                <a:lnTo>
                  <a:pt x="0" y="76"/>
                </a:ln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352" y="0"/>
                </a:lnTo>
                <a:close/>
              </a:path>
            </a:pathLst>
          </a:custGeom>
          <a:solidFill>
            <a:srgbClr val="F4F9EA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077200" y="1466850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F9A24"/>
                </a:solidFill>
                <a:latin typeface="Microsoft YaHei"/>
                <a:ea typeface="Microsoft YaHei"/>
              </a:rPr>
              <a:t>前台</a:t>
            </a:r>
            <a:r>
              <a:rPr lang="en-US" sz="1125">
                <a:solidFill>
                  <a:srgbClr val="6F9A24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6F9A24"/>
                </a:solidFill>
                <a:latin typeface="Microsoft YaHei"/>
                <a:ea typeface="Microsoft YaHei"/>
              </a:rPr>
              <a:t>仅使用网站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077200" y="1657350"/>
            <a:ext cx="3505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D0F"/>
                </a:solidFill>
                <a:latin typeface="Microsoft YaHei"/>
                <a:ea typeface="Microsoft YaHei"/>
              </a:rPr>
              <a:t>网站会员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05800" y="2286000"/>
            <a:ext cx="30480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嘉法狮官网的注册用户，只在网站前台活动：浏览产品与配方、收藏感兴趣的内容、加入购物车申请样品、下载技术文档。会员不进入管理后台，后台登录口也会自动拦截会员账号。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305800" y="5553075"/>
            <a:ext cx="3048000" cy="352425"/>
          </a:xfrm>
          <a:prstGeom prst="roundRect">
            <a:avLst>
              <a:gd name="adj" fmla="val 21622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439150" y="5648325"/>
            <a:ext cx="27813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浏览</a:t>
            </a:r>
            <a:r>
              <a:rPr lang="en-US" sz="1050">
                <a:solidFill>
                  <a:srgbClr val="3F7D14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收藏</a:t>
            </a:r>
            <a:r>
              <a:rPr lang="en-US" sz="1050">
                <a:solidFill>
                  <a:srgbClr val="3F7D14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样品申请</a:t>
            </a:r>
            <a:r>
              <a:rPr lang="en-US" sz="1050">
                <a:solidFill>
                  <a:srgbClr val="3F7D14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F7D14"/>
                </a:solidFill>
                <a:latin typeface="Microsoft YaHei"/>
                <a:ea typeface="Microsoft YaHei"/>
              </a:rPr>
              <a:t>文档下载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B7A"/>
                </a:solidFill>
                <a:latin typeface="Microsoft YaHei"/>
                <a:ea typeface="Microsoft YaHei"/>
              </a:rPr>
              <a:t>嘉法狮产品管理系统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B7A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1466850"/>
            <a:ext cx="3505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后台</a:t>
            </a: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最高权限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21" name="" descr="&lt;Slide style={{ width: 1280, height: 720, background: '#FFFFFF', padding: '20px 64px' }}&gt;&#10;    &lt;Box style={{ height: 100, justifyContent: 'flex-end', paddingBottom: 16 }}&gt;&#10;        &lt;Text style={{ fontSize: 34, fontWeight: 'bold', color: '#1F3D0F' }}&gt;三步上手，人人会用&lt;/Text&gt;&#10;    &lt;/Box&gt;&#10;    &lt;Box style={{ flexDirection: 'row', alignItems: 'center', flex: 1, gap: 12, paddingTop: 20, paddingBottom: 16 }}&gt;&#10;        {[&#10;            { n: '01', t: '打开系统登录', d: '浏览器输入后台地址，输入管理员分配的账号密码即可进入；账号由超级管理员统一创建，忘记密码可一键重置。' },&#10;            { n: '02', t: '认领功能模块', d: '超管按分工授权对应模块后，左侧菜单只显示你的功能，界面干净不迷路，新人当天即可独立操作。' },&#10;            { n: '03', t: '日常内容维护', d: '新增、编辑、发布三步完成；内容保存后网站前台立即更新，无需技术人员介入，也不需要碰代码。' },&#10;        ].map((step, idx) =&gt; (&#10;            &lt;Box key={idx} style={{ flexDirection: 'row', alignItems: 'center', flex: 1, gap: 12 }}&gt;&#10;                &lt;Box style={{ flex: 1, background: idx === 1 ? '#F4F9EA' : '#FFFFFF', border: '2px solid #E3EED0', borderRadius: 16, padding: 28 }}&gt;&#10;                    &lt;Text style={{ fontSize: 64, fontWeight: 'bold', color: '#8EB73C', lineHeight: 1.0 }}&gt;{step.n}&lt;/Text&gt;&#10;                    &lt;Text style={{ fontSize: 22, fontWeight: 'bold', color: '#1F3D0F', marginTop: 16 }}&gt;{step.t}&lt;/Text&gt;&#10;                    &lt;Text style={{ fontSize: 16, color: '#5B6B4F', lineHeight: 1.7, marginTop: 12 }}&gt;{step.d}&lt;/Text&gt;&#10;                &lt;/Box&gt;&#10;                {idx &lt; 2 &amp;&amp; (&#10;                    &lt;Text style={{ fontSize: 36, fontWeight: 'bold', color: '#8EB73C' }}&gt;→&lt;/Text&gt;&#10;                )}&#10;            &lt;/Box&gt;&#10;        ))}&#10;    &lt;/Box&gt;&#10;    &lt;Box style={{ background: '#F4F9EA', borderRadius: 12, padding: '14px 24px', marginBottom: 8 }}&gt;&#10;        &lt;Text style={{ fontSize: 16, color: '#3F7D14', textAlign: 'center' }}&gt;&#10;            小贴士：所有操作实时生效、可随时修改；系统自动记录操作痕迹，改错了找回原来的内容也很容易&#10;        &lt;/Text&gt;&#10;    &lt;/Box&gt;&#10;    &lt;Box style={{ height: 40, flexDirection: 'row', justifyContent: 'space-between', alignItems: 'center' }}&gt;&#10;        &lt;Text style={{ fontSize: 14, color: '#8A9B7A' }}&gt;嘉法狮产品管理系统&lt;/Text&gt;&#10;        &lt;Text style={{ fontSize: 14, color: '#8A9B7A' }}&gt;06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三步上手，人人会用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2105025"/>
            <a:ext cx="3124200" cy="272415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76300" y="2371725"/>
            <a:ext cx="2590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8EB73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打开系统登录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76300" y="3629025"/>
            <a:ext cx="25908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浏览器输入后台地址，输入管理员分配的账号密码即可进入；账号由超级管理员统一创建，忘记密码可一键重置。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48100" y="3257550"/>
            <a:ext cx="342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700" b="1">
                <a:solidFill>
                  <a:srgbClr val="8EB73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305300" y="2105025"/>
            <a:ext cx="3124200" cy="2724150"/>
          </a:xfrm>
          <a:prstGeom prst="roundRect">
            <a:avLst>
              <a:gd name="adj" fmla="val 5594"/>
            </a:avLst>
          </a:prstGeom>
          <a:solidFill>
            <a:srgbClr val="F4F9EA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572000" y="2371725"/>
            <a:ext cx="2590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8EB73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572000" y="3257550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认领功能模块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572000" y="3629025"/>
            <a:ext cx="25908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超管按分工授权对应模块后，左侧菜单只显示你的功能，界面干净不迷路，新人当天即可独立操作。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543800" y="3257550"/>
            <a:ext cx="3429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700" b="1">
                <a:solidFill>
                  <a:srgbClr val="8EB73C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8001000" y="2105025"/>
            <a:ext cx="3581400" cy="272415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267700" y="2371725"/>
            <a:ext cx="3048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8EB73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267700" y="32575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日常内容维护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267700" y="3629025"/>
            <a:ext cx="3048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新增、编辑、发布三步完成；内容保存后网站前台立即更新，无需技术人员介入，也不需要碰代码。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09600" y="5753100"/>
            <a:ext cx="10972800" cy="457200"/>
          </a:xfrm>
          <a:prstGeom prst="roundRect">
            <a:avLst>
              <a:gd name="adj" fmla="val 25000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5886450"/>
            <a:ext cx="105156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3F7D14"/>
                </a:solidFill>
                <a:latin typeface="Microsoft YaHei"/>
                <a:ea typeface="Microsoft YaHei"/>
              </a:rPr>
              <a:t>小贴士：所有操作实时生效、可随时修改；系统自动记录操作痕迹，改错了找回原来的内容也很容易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B7A"/>
                </a:solidFill>
                <a:latin typeface="Microsoft YaHei"/>
                <a:ea typeface="Microsoft YaHei"/>
              </a:rPr>
              <a:t>嘉法狮产品管理系统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B7A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42" name="" descr="&lt;Slide style={{ width: 1280, height: 720, background: '#FFFFFF', padding: '20px 64px' }}&gt;&#10;    &lt;Box style={{ height: 100, justifyContent: 'flex-end', paddingBottom: 16 }}&gt;&#10;        &lt;Text style={{ fontSize: 34, fontWeight: 'bold', color: '#1F3D0F' }}&gt;核心功能 · 产品管理&lt;/Text&gt;&#10;    &lt;/Box&gt;&#10;    &lt;Box style={{ flexDirection: 'row', flex: 1, gap: 40, paddingTop: 20, paddingBottom: 16 }}&gt;&#10;        &lt;Box style={{ flex: 1, justifyContent: 'center', gap: 22 }}&gt;&#10;            {[&#10;                { t: '三大产品线集中维护', d: '个人护理 57 个产品、药用辅料 54 条、配方 99 个，统一列表、搜索、筛选' },&#10;                { t: '详情页区块化编辑', d: '富文本、图文、视频、附件资料像搭积木一样自由组合，拖拽即可排序' },&#10;                { t: '标签体系精准归类', d: '功能、应用领域、概念、声明等七大类标签，中文标签一键勾选' },&#10;                { t: '数据一键导出', d: '三大产品线支持导出 Excel/CSV，随时用于线下汇报与盘点' },&#10;            ].map((item, idx) =&gt; (&#10;                &lt;Box key={idx} style={{ flexDirection: 'row', alignItems: 'flex-start', gap: 14 }}&gt;&#10;                    &lt;Box style={{ width: 12, height: 12, borderRadius: 6, background: '#8EB73C', marginTop: 8 }} /&gt;&#10;                    &lt;Box style={{ flexDirection: 'column' }}&gt;&#10;                        &lt;Text style={{ fontSize: 20, fontWeight: 'bold', color: '#1F3D0F' }}&gt;{item.t}&lt;/Text&gt;&#10;                        &lt;Text style={{ fontSize: 15, color: '#5B6B4F', lineHeight: 1.6, marginTop: 4 }}&gt;{item.d}&lt;/Text&gt;&#10;                    &lt;/Box&gt;&#10;                &lt;/Box&gt;&#10;            ))}&#10;        &lt;/Box&gt;&#10;        &lt;Box style={{ width: 480, gap: 20, justifyContent: 'center' }}&gt;&#10;            &lt;Box style={{ background: '#F4F9EA', borderRadius: 16, padding: 28 }}&gt;&#10;                &lt;Text style={{ fontSize: 20, fontWeight: 'bold', color: '#3F7D14' }}&gt;演示要点&lt;/Text&gt;&#10;                &lt;Text style={{ fontSize: 16, color: '#5B6B4F', lineHeight: 1.8, marginTop: 12 }}&gt;&#10;                    现场演示「编辑一个产品」全流程：打开产品列表 → 搜索目标产品 → 修改详情区块 → 保存发布 → 刷新前台看到效果，全程约 1 分钟。&#10;                &lt;/Text&gt;&#10;            &lt;/Box&gt;&#10;            &lt;Box style={{ background: '#FFFFFF', border: '2px solid #E3EED0', borderRadius: 16, padding: 28 }}&gt;&#10;                &lt;Box style={{ flexDirection: 'row', justifyContent: 'space-between', alignItems: 'flex-end' }}&gt;&#10;                    &lt;Text style={{ fontSize: 52, fontWeight: 'bold', color: '#3F7D14', lineHeight: 1.0 }}&gt;210&lt;/Text&gt;&#10;                    &lt;Text style={{ fontSize: 16, color: '#5B6B4F' }}&gt;个内容区块&lt;/Text&gt;&#10;                &lt;/Box&gt;&#10;                &lt;Text style={{ fontSize: 15, color: '#8A9B7A', marginTop: 10 }}&gt;已从原站批量导入 54 个产品的详情内容，无需重复录入&lt;/Text&gt;&#10;            &lt;/Box&gt;&#10;        &lt;/Box&gt;&#10;    &lt;/Box&gt;&#10;    &lt;Box style={{ height: 40, flexDirection: 'row', justifyContent: 'space-between', alignItems: 'center' }}&gt;&#10;        &lt;Text style={{ fontSize: 14, color: '#8A9B7A' }}&gt;嘉法狮产品管理系统&lt;/Text&gt;&#10;        &lt;Text style={{ fontSize: 14, color: '#8A9B7A' }}&gt;07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核心功能</a:t>
            </a:r>
            <a:r>
              <a:rPr lang="en-US" sz="2550" b="1">
                <a:solidFill>
                  <a:srgbClr val="1F3D0F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产品管理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24098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57250" y="2333625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三大产品线集中维护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57250" y="2600325"/>
            <a:ext cx="4762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个人护理</a:t>
            </a:r>
            <a:r>
              <a:rPr lang="en-US" sz="1125">
                <a:solidFill>
                  <a:srgbClr val="5B6B4F"/>
                </a:solidFill>
                <a:latin typeface="Microsoft YaHei"/>
                <a:ea typeface="Microsoft YaHei"/>
              </a:rPr>
              <a:t> 57 </a:t>
            </a: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个产品、药用辅料</a:t>
            </a:r>
            <a:r>
              <a:rPr lang="en-US" sz="1125">
                <a:solidFill>
                  <a:srgbClr val="5B6B4F"/>
                </a:solidFill>
                <a:latin typeface="Microsoft YaHei"/>
                <a:ea typeface="Microsoft YaHei"/>
              </a:rPr>
              <a:t> 54 </a:t>
            </a: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条、配方</a:t>
            </a:r>
            <a:r>
              <a:rPr lang="en-US" sz="1125">
                <a:solidFill>
                  <a:srgbClr val="5B6B4F"/>
                </a:solidFill>
                <a:latin typeface="Microsoft YaHei"/>
                <a:ea typeface="Microsoft YaHei"/>
              </a:rPr>
              <a:t> 99 </a:t>
            </a: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个，统一列表、搜索、筛选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3162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57250" y="3086100"/>
            <a:ext cx="4429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详情页区块化编辑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57250" y="3352800"/>
            <a:ext cx="44291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富文本、图文、视频、附件资料像搭积木一样自由组合，拖拽即可排序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09600" y="39147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57250" y="383857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标签体系精准归类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57250" y="410527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功能、应用领域、概念、声明等七大类标签，中文标签一键勾选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4667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57250" y="4591050"/>
            <a:ext cx="3724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3D0F"/>
                </a:solidFill>
                <a:latin typeface="Microsoft YaHei"/>
                <a:ea typeface="Microsoft YaHei"/>
              </a:rPr>
              <a:t>数据一键导出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57250" y="4857750"/>
            <a:ext cx="37242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三大产品线支持导出</a:t>
            </a:r>
            <a:r>
              <a:rPr lang="en-US" sz="1125">
                <a:solidFill>
                  <a:srgbClr val="5B6B4F"/>
                </a:solidFill>
                <a:latin typeface="Microsoft YaHei"/>
                <a:ea typeface="Microsoft YaHei"/>
              </a:rPr>
              <a:t> Excel/CSV</a:t>
            </a:r>
            <a:r>
              <a:rPr lang="zh-CN" sz="1125">
                <a:solidFill>
                  <a:srgbClr val="5B6B4F"/>
                </a:solidFill>
                <a:latin typeface="Microsoft YaHei"/>
                <a:ea typeface="Microsoft YaHei"/>
              </a:rPr>
              <a:t>，随时用于线下汇报与盘点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7010400" y="2009775"/>
            <a:ext cx="4572000" cy="1866900"/>
          </a:xfrm>
          <a:prstGeom prst="roundRect">
            <a:avLst>
              <a:gd name="adj" fmla="val 8163"/>
            </a:avLst>
          </a:prstGeom>
          <a:solidFill>
            <a:srgbClr val="F4F9EA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277100" y="2276475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F7D14"/>
                </a:solidFill>
                <a:latin typeface="Microsoft YaHei"/>
                <a:ea typeface="Microsoft YaHei"/>
              </a:rPr>
              <a:t>演示要点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277100" y="2619375"/>
            <a:ext cx="40386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现场演示「编辑一个产品」全流程：打开产品列表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搜索目标产品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修改详情区块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保存发布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刷新前台看到效果，全程约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1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分钟。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010400" y="4067175"/>
            <a:ext cx="4572000" cy="1400175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277100" y="4333875"/>
            <a:ext cx="9239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3F7D14"/>
                </a:solidFill>
                <a:latin typeface="Microsoft YaHei"/>
                <a:ea typeface="Microsoft YaHei"/>
              </a:rPr>
              <a:t>210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0553700" y="47434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个内容区块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277100" y="5029200"/>
            <a:ext cx="403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9B7A"/>
                </a:solidFill>
                <a:latin typeface="Microsoft YaHei"/>
                <a:ea typeface="Microsoft YaHei"/>
              </a:rPr>
              <a:t>已从原站批量导入</a:t>
            </a:r>
            <a:r>
              <a:rPr lang="en-US" sz="1125">
                <a:solidFill>
                  <a:srgbClr val="8A9B7A"/>
                </a:solidFill>
                <a:latin typeface="Microsoft YaHei"/>
                <a:ea typeface="Microsoft YaHei"/>
              </a:rPr>
              <a:t> 54 </a:t>
            </a:r>
            <a:r>
              <a:rPr lang="zh-CN" sz="1125">
                <a:solidFill>
                  <a:srgbClr val="8A9B7A"/>
                </a:solidFill>
                <a:latin typeface="Microsoft YaHei"/>
                <a:ea typeface="Microsoft YaHei"/>
              </a:rPr>
              <a:t>个产品的详情内容，无需重复录入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B7A"/>
                </a:solidFill>
                <a:latin typeface="Microsoft YaHei"/>
                <a:ea typeface="Microsoft YaHei"/>
              </a:rPr>
              <a:t>嘉法狮产品管理系统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B7A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66" name="" descr="&lt;Slide style={{ width: 1280, height: 720, background: '#FFFFFF', padding: '20px 64px' }}&gt;&#10;    &lt;Box style={{ height: 100, justifyContent: 'flex-end', paddingBottom: 16 }}&gt;&#10;        &lt;Text style={{ fontSize: 34, fontWeight: 'bold', color: '#1F3D0F' }}&gt;核心功能 · 内容与运营&lt;/Text&gt;&#10;    &lt;/Box&gt;&#10;    &lt;Box style={{ flexDirection: 'row', flexWrap: 'wrap', gap: 20, flex: 1, paddingTop: 20, paddingBottom: 16 }}&gt;&#10;        {[&#10;            { t: '新闻活动管理', d: '新闻、活动、杂志统一发布管理，支持草稿与定时上线； banners、导语、正文分块编辑，同步官网三种主题配色。' },&#10;            { t: '人才招聘', d: '职位发布与在线申请简历统一收纳，简历文件后台安全下载，投递即邮件通知负责人，招聘流程不漏一份简历。' },&#10;            { t: '会员与商机', d: '会员注册登录、产品收藏、样品购物车、样品申请全流程留痕；每一条申请都是潜在商机，后台随时跟进处理。' },&#10;            { t: '数据看板', d: '访问统计、世界与中国地区排行、文档下载排行一屏呈现；排行支持 Top 10 聚焦与一键展开，汇报数据随取随用。' },&#10;        ].map((card, idx) =&gt; (&#10;            &lt;Box key={idx} style={{ width: 556, height: 224, background: idx % 3 === 0 ? '#F4F9EA' : '#FFFFFF', border: '2px solid #E3EED0', borderRadius: 16, padding: 26 }}&gt;&#10;                &lt;Box style={{ flexDirection: 'row', alignItems: 'center', gap: 12 }}&gt;&#10;                    &lt;Box style={{ width: 10, height: 26, borderRadius: 5, background: '#8EB73C' }} /&gt;&#10;                    &lt;Text style={{ fontSize: 22, fontWeight: 'bold', color: '#1F3D0F' }}&gt;{card.t}&lt;/Text&gt;&#10;                &lt;/Box&gt;&#10;                &lt;Text style={{ fontSize: 16, color: '#5B6B4F', lineHeight: 1.7, marginTop: 14 }}&gt;{card.d}&lt;/Text&gt;&#10;            &lt;/Box&gt;&#10;        ))}&#10;    &lt;/Box&gt;&#10;    &lt;Box style={{ height: 40, flexDirection: 'row', justifyContent: 'space-between', alignItems: 'center' }}&gt;&#10;        &lt;Text style={{ fontSize: 14, color: '#8A9B7A' }}&gt;嘉法狮产品管理系统&lt;/Text&gt;&#10;        &lt;Text style={{ fontSize: 14, color: '#8A9B7A' }}&gt;08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核心功能</a:t>
            </a:r>
            <a:r>
              <a:rPr lang="en-US" sz="2550" b="1">
                <a:solidFill>
                  <a:srgbClr val="1F3D0F"/>
                </a:solidFill>
                <a:latin typeface="Microsoft YaHei"/>
                <a:ea typeface="Microsoft YaHei"/>
              </a:rPr>
              <a:t> · </a:t>
            </a: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内容与运营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" y="1333500"/>
            <a:ext cx="5295900" cy="2133600"/>
          </a:xfrm>
          <a:prstGeom prst="roundRect">
            <a:avLst>
              <a:gd name="adj" fmla="val 7143"/>
            </a:avLst>
          </a:prstGeom>
          <a:solidFill>
            <a:srgbClr val="F4F9EA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857250" y="1590675"/>
            <a:ext cx="95250" cy="24765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066800" y="15811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新闻活动管理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57250" y="1971675"/>
            <a:ext cx="4800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新闻、活动、杂志统一发布管理，支持草稿与定时上线；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banners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、导语、正文分块编辑，同步官网三种主题配色。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0" y="1333500"/>
            <a:ext cx="5295900" cy="2133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6343650" y="1590675"/>
            <a:ext cx="95250" cy="24765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553200" y="15811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人才招聘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343650" y="1971675"/>
            <a:ext cx="4800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职位发布与在线申请简历统一收纳，简历文件后台安全下载，投递即邮件通知负责人，招聘流程不漏一份简历。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3829050"/>
            <a:ext cx="5295900" cy="2133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857250" y="4086225"/>
            <a:ext cx="95250" cy="24765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066800" y="40767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会员与商机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57250" y="4467225"/>
            <a:ext cx="4800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会员注册登录、产品收藏、样品购物车、样品申请全流程留痕；每一条申请都是潜在商机，后台随时跟进处理。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0" y="3829050"/>
            <a:ext cx="5295900" cy="2133600"/>
          </a:xfrm>
          <a:prstGeom prst="roundRect">
            <a:avLst>
              <a:gd name="adj" fmla="val 7143"/>
            </a:avLst>
          </a:prstGeom>
          <a:solidFill>
            <a:srgbClr val="F4F9EA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6343650" y="4086225"/>
            <a:ext cx="95250" cy="247650"/>
          </a:xfrm>
          <a:prstGeom prst="roundRect">
            <a:avLst>
              <a:gd name="adj" fmla="val 50000"/>
            </a:avLst>
          </a:prstGeom>
          <a:solidFill>
            <a:srgbClr val="8EB73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553200" y="40767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3D0F"/>
                </a:solidFill>
                <a:latin typeface="Microsoft YaHei"/>
                <a:ea typeface="Microsoft YaHei"/>
              </a:rPr>
              <a:t>数据看板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343650" y="4467225"/>
            <a:ext cx="4800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访问统计、世界与中国地区排行、文档下载排行一屏呈现；排行支持</a:t>
            </a:r>
            <a:r>
              <a:rPr lang="en-US" sz="1200">
                <a:solidFill>
                  <a:srgbClr val="5B6B4F"/>
                </a:solidFill>
                <a:latin typeface="Microsoft YaHei"/>
                <a:ea typeface="Microsoft YaHei"/>
              </a:rPr>
              <a:t> Top 10 </a:t>
            </a: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聚焦与一键展开，汇报数据随取随用。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B7A"/>
                </a:solidFill>
                <a:latin typeface="Microsoft YaHei"/>
                <a:ea typeface="Microsoft YaHei"/>
              </a:rPr>
              <a:t>嘉法狮产品管理系统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B7A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style={{ width: 1280, height: 720, background: '#FFFFFF', padding: '20px 64px' }}&gt;&#10;    &lt;Box style={{ height: 100, justifyContent: 'flex-end', paddingBottom: 16 }}&gt;&#10;        &lt;Text style={{ fontSize: 34, fontWeight: 'bold', color: '#1F3D0F' }}&gt;安全与部署：四重保障&lt;/Text&gt;&#10;    &lt;/Box&gt;&#10;    &lt;Box style={{ flexDirection: 'row', flex: 1, alignItems: 'center', gap: 48, paddingTop: 10, paddingBottom: 10 }}&gt;&#10;        &lt;Box style={{ width: 400, justifyContent: 'center' }}&gt;&#10;            &lt;Text style={{ fontSize: 160, fontWeight: 'bold', color: '#8EB73C', lineHeight: 1.0 }}&gt;4&lt;span style={{ fontSize: 56, color: '#3F7D14' }}&gt; 重&lt;/span&gt;&lt;/Text&gt;&#10;            &lt;Text style={{ fontSize: 24, fontWeight: 'bold', color: '#1F3D0F', marginTop: 20 }}&gt;数据安全保障&lt;/Text&gt;&#10;            &lt;Text style={{ fontSize: 16, color: '#5B6B4F', lineHeight: 1.7, marginTop: 12 }}&gt;从权限、数据、版本到发布流程，系统在设计上就把「不出事」放在第一位。&lt;/Text&gt;&#10;        &lt;/Box&gt;&#10;        &lt;Box style={{ flex: 1, gap: 16, justifyContent: 'center' }}&gt;&#10;            {[&#10;                { t: '数据与代码分离', d: '产品、内容等业务数据独立存放，系统升级不会覆盖线上数据' },&#10;                { t: '权限层层收口', d: '超级管理员受保护不可删改，编辑员按模块授权，会员无法进入后台' },&#10;                { t: '版本随时回滚', d: '每次更新独立存档，发现异常可秒级回退到上一个正常版本' },&#10;                { t: '发布自动化', d: '代码推送后自动构建、自动上线，减少人为操作失误' },&#10;            ].map((item, idx) =&gt; (&#10;                &lt;Box key={idx} style={{ flexDirection: 'row', alignItems: 'center', gap: 16, background: idx % 2 === 0 ? '#F4F9EA' : '#FFFFFF', border: '2px solid #E3EED0', borderRadius: 12, padding: '14px 20px' }}&gt;&#10;                    &lt;Text style={{ fontSize: 28, fontWeight: 'bold', color: '#8EB73C', width: 36 }}&gt;{idx + 1}&lt;/Text&gt;&#10;                    &lt;Box style={{ flexDirection: 'column' }}&gt;&#10;                        &lt;Text style={{ fontSize: 18, fontWeight: 'bold', color: '#1F3D0F' }}&gt;{item.t}&lt;/Text&gt;&#10;                        &lt;Text style={{ fontSize: 14, color: '#5B6B4F', marginTop: 2 }}&gt;{item.d}&lt;/Text&gt;&#10;                    &lt;/Box&gt;&#10;                &lt;/Box&gt;&#10;            ))}&#10;        &lt;/Box&gt;&#10;    &lt;/Box&gt;&#10;    &lt;Box style={{ height: 40, flexDirection: 'row', justifyContent: 'space-between', alignItems: 'center' }}&gt;&#10;        &lt;Text style={{ fontSize: 14, color: '#8A9B7A' }}&gt;嘉法狮产品管理系统&lt;/Text&gt;&#10;        &lt;Text style={{ fontSize: 14, color: '#8A9B7A' }}&gt;09 / 1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600075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F3D0F"/>
                </a:solidFill>
                <a:latin typeface="Microsoft YaHei"/>
                <a:ea typeface="Microsoft YaHei"/>
              </a:rPr>
              <a:t>安全与部署：四重保障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3810000" cy="1828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8EB73C"/>
                </a:solidFill>
                <a:latin typeface="Microsoft YaHei"/>
                <a:ea typeface="Microsoft YaHei"/>
              </a:rPr>
              <a:t>4</a:t>
            </a:r>
            <a:r>
              <a:rPr lang="en-US" sz="4200" b="1">
                <a:solidFill>
                  <a:srgbClr val="3F7D14"/>
                </a:solidFill>
                <a:latin typeface="Microsoft YaHei"/>
                <a:ea typeface="Microsoft YaHei"/>
              </a:rPr>
              <a:t> </a:t>
            </a:r>
            <a:r>
              <a:rPr lang="zh-CN" sz="4200" b="1">
                <a:solidFill>
                  <a:srgbClr val="3F7D14"/>
                </a:solidFill>
                <a:latin typeface="Microsoft YaHei"/>
                <a:ea typeface="Microsoft YaHei"/>
              </a:rPr>
              <a:t>重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42195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3D0F"/>
                </a:solidFill>
                <a:latin typeface="Microsoft YaHei"/>
                <a:ea typeface="Microsoft YaHei"/>
              </a:rPr>
              <a:t>数据安全保障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4610100"/>
            <a:ext cx="3810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B6B4F"/>
                </a:solidFill>
                <a:latin typeface="Microsoft YaHei"/>
                <a:ea typeface="Microsoft YaHei"/>
              </a:rPr>
              <a:t>从权限、数据、版本到发布流程，系统在设计上就把「不出事」放在第一位。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4876800" y="2171700"/>
            <a:ext cx="6705600" cy="657225"/>
          </a:xfrm>
          <a:prstGeom prst="roundRect">
            <a:avLst>
              <a:gd name="adj" fmla="val 17391"/>
            </a:avLst>
          </a:prstGeom>
          <a:solidFill>
            <a:srgbClr val="F4F9EA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067300" y="2343150"/>
            <a:ext cx="342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8EB73C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562600" y="2305050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D0F"/>
                </a:solidFill>
                <a:latin typeface="Microsoft YaHei"/>
                <a:ea typeface="Microsoft YaHei"/>
              </a:rPr>
              <a:t>数据与代码分离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562600" y="2533650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4F"/>
                </a:solidFill>
                <a:latin typeface="Microsoft YaHei"/>
                <a:ea typeface="Microsoft YaHei"/>
              </a:rPr>
              <a:t>产品、内容等业务数据独立存放，系统升级不会覆盖线上数据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876800" y="2981325"/>
            <a:ext cx="6705600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067300" y="3152775"/>
            <a:ext cx="342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8EB73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562600" y="3114675"/>
            <a:ext cx="400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D0F"/>
                </a:solidFill>
                <a:latin typeface="Microsoft YaHei"/>
                <a:ea typeface="Microsoft YaHei"/>
              </a:rPr>
              <a:t>权限层层收口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562600" y="33432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4F"/>
                </a:solidFill>
                <a:latin typeface="Microsoft YaHei"/>
                <a:ea typeface="Microsoft YaHei"/>
              </a:rPr>
              <a:t>超级管理员受保护不可删改，编辑员按模块授权，会员无法进入后台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876800" y="3790950"/>
            <a:ext cx="6705600" cy="657225"/>
          </a:xfrm>
          <a:prstGeom prst="roundRect">
            <a:avLst>
              <a:gd name="adj" fmla="val 17391"/>
            </a:avLst>
          </a:prstGeom>
          <a:solidFill>
            <a:srgbClr val="F4F9EA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067300" y="3962400"/>
            <a:ext cx="342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8EB73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562600" y="3924300"/>
            <a:ext cx="3467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D0F"/>
                </a:solidFill>
                <a:latin typeface="Microsoft YaHei"/>
                <a:ea typeface="Microsoft YaHei"/>
              </a:rPr>
              <a:t>版本随时回滚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562600" y="4152900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4F"/>
                </a:solidFill>
                <a:latin typeface="Microsoft YaHei"/>
                <a:ea typeface="Microsoft YaHei"/>
              </a:rPr>
              <a:t>每次更新独立存档，发现异常可秒级回退到上一个正常版本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876800" y="4600575"/>
            <a:ext cx="6705600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25400">
            <a:solidFill>
              <a:srgbClr val="E3EED0"/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067300" y="4772025"/>
            <a:ext cx="342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8EB73C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562600" y="4733925"/>
            <a:ext cx="3067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3D0F"/>
                </a:solidFill>
                <a:latin typeface="Microsoft YaHei"/>
                <a:ea typeface="Microsoft YaHei"/>
              </a:rPr>
              <a:t>发布自动化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562600" y="496252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4F"/>
                </a:solidFill>
                <a:latin typeface="Microsoft YaHei"/>
                <a:ea typeface="Microsoft YaHei"/>
              </a:rPr>
              <a:t>代码推送后自动构建、自动上线，减少人为操作失误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B7A"/>
                </a:solidFill>
                <a:latin typeface="Microsoft YaHei"/>
                <a:ea typeface="Microsoft YaHei"/>
              </a:rPr>
              <a:t>嘉法狮产品管理系统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9B7A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background: 'linear-gradient(160deg, #A5CE55 0%, #6F9A24 100%)', padding: 64, justifyContent: 'center', alignItems: 'center' }}&gt;&#10;    &lt;Text style={{ fontSize: 18, color: '#FFFFFF', opacity: 0.85, letterSpacing: 4, textAlign: 'center' }}&gt;GATTEFOSSE · CHINA&lt;/Text&gt;&#10;    &lt;Text style={{ fontSize: 60, fontWeight: 'bold', color: '#FFFFFF', lineHeight: 1.3, textAlign: 'center', marginTop: 28 }}&gt;三步上手，人人会用&lt;/Text&gt;&#10;    &lt;Text style={{ fontSize: 24, color: '#FFFFFF', opacity: 0.92, textAlign: 'center', marginTop: 24 }}&gt;登录 → 认领模块 → 内容维护，下一场发布会就从这里开始&lt;/Text&gt;&#10;    &lt;Box style={{ height: 4, width: 96, background: 'rgba(255,255,255,0.5)', borderRadius: 2, marginTop: 48 }} /&gt;&#10;    &lt;Text style={{ fontSize: 18, color: '#FFFFFF', opacity: 0.85, marginTop: 32, textAlign: 'center' }}&gt;嘉法狮产品管理系统 v2.0 · 上海唯风信息技术有限公司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A5CE55"/>
              </a:gs>
              <a:gs pos="100000">
                <a:srgbClr val="6F9A24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524250" y="2466975"/>
            <a:ext cx="5143500" cy="8953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三步上手，人人会用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638800" y="432435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867275" y="1990725"/>
            <a:ext cx="24574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 spc="3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GATTEFOSSE · CHINA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105150" y="3590925"/>
            <a:ext cx="599122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登录</a:t>
            </a:r>
            <a:r>
              <a:rPr lang="en-US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认领模块</a:t>
            </a:r>
            <a:r>
              <a:rPr lang="en-US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8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内容维护，下一场发布会就从这里开始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029075" y="4667250"/>
            <a:ext cx="41338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嘉法狮产品管理系统</a:t>
            </a:r>
            <a:r>
              <a:rPr lang="en-US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v2.0 · </a:t>
            </a:r>
            <a:r>
              <a:rPr lang="zh-CN" sz="13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上海唯风信息技术有限公司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2026-09-10T23:48:50Z</dcterms:created>
  <dcterms:modified xsi:type="dcterms:W3CDTF">2026-09-10T23:48:50Z</dcterms:modified>
</cp:coreProperties>
</file>